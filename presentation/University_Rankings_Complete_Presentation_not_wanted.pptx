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Insights from University Rankings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Shruti Pashine, Dharampal Singh, Hemant Hemant, Santosh Shirguppe</a:t>
            </a:r>
          </a:p>
          <a:p>
            <a:r>
              <a:t>Group: Vizionary 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University rankings shape student decisions, funding, and collaborations.</a:t>
            </a:r>
          </a:p>
          <a:p>
            <a:pPr>
              <a:defRPr sz="1800"/>
            </a:pPr>
            <a:r>
              <a:t>Dataset provides multi-dimensional view of global academic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Used R and RMarkdown for reproducibility.</a:t>
            </a:r>
          </a:p>
          <a:p>
            <a:pPr>
              <a:defRPr sz="1800"/>
            </a:pPr>
            <a:r>
              <a:t>Packages: dplyr (data cleaning), ggplot2 (visualization).</a:t>
            </a:r>
          </a:p>
          <a:p>
            <a:pPr>
              <a:defRPr sz="1800"/>
            </a:pPr>
            <a:r>
              <a:t>Steps: cleaning -&gt; EDA -&gt; visual analysis for each question.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 &amp;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Goal: Understand key ranking drivers using visual methods.</a:t>
            </a:r>
          </a:p>
          <a:p>
            <a:pPr>
              <a:defRPr sz="1800"/>
            </a:pPr>
            <a:r>
              <a:t>Source: CWUR dataset (via Kaggle).</a:t>
            </a:r>
          </a:p>
          <a:p>
            <a:pPr>
              <a:defRPr sz="1800"/>
            </a:pPr>
            <a:r>
              <a:t>Size: 2,200 rows, 14 variables, numeric &amp; categorical.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Relevance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Helps stakeholders make informed decisions.</a:t>
            </a:r>
          </a:p>
          <a:p>
            <a:pPr>
              <a:defRPr sz="1800"/>
            </a:pPr>
            <a:r>
              <a:t>Rankings reflect quality, output, and innovation.</a:t>
            </a:r>
          </a:p>
          <a:p>
            <a:pPr>
              <a:defRPr sz="1800"/>
            </a:pPr>
            <a:r>
              <a:t>Motivated by need for transparent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Removed missing values: na.omit().</a:t>
            </a:r>
          </a:p>
          <a:p>
            <a:pPr>
              <a:defRPr sz="1800"/>
            </a:pPr>
            <a:r>
              <a:t>Converted world_rank to numeric.</a:t>
            </a:r>
          </a:p>
          <a:p>
            <a:pPr>
              <a:defRPr sz="1800"/>
            </a:pPr>
            <a:r>
              <a:t>Result: 2,000 complete rows ready for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Histogram: University score distribution.</a:t>
            </a:r>
          </a:p>
          <a:p>
            <a:pPr>
              <a:defRPr sz="1800"/>
            </a:pPr>
            <a:r>
              <a:t>Barplot: Top 10 countries by number of universities.</a:t>
            </a:r>
          </a:p>
          <a:p>
            <a:pPr>
              <a:defRPr sz="1800"/>
            </a:pPr>
            <a:r>
              <a:t>Scatterplot: Score vs. World Rank.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Q1: Which Countries Have Best Scores?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Used top 5 countries by count.</a:t>
            </a:r>
          </a:p>
          <a:p>
            <a:pPr>
              <a:defRPr sz="1800"/>
            </a:pPr>
            <a:r>
              <a:t>Visual: Barplot showing mean/median scores.</a:t>
            </a:r>
          </a:p>
          <a:p>
            <a:pPr>
              <a:defRPr sz="1800"/>
            </a:pPr>
            <a:r>
              <a:t>Finding: USA has highest mean; others have tighter medians.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Q2: What Most Impacts Global Ranking?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Scatterplot of publications vs. world_rank.</a:t>
            </a:r>
          </a:p>
          <a:p>
            <a:pPr>
              <a:defRPr sz="1800"/>
            </a:pPr>
            <a:r>
              <a:t>Trendline shows negative correlation.</a:t>
            </a:r>
          </a:p>
          <a:p>
            <a:pPr>
              <a:defRPr sz="1800"/>
            </a:pPr>
            <a:r>
              <a:t>Linear regression: R² = 0.82.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Q3: Score Variation in Top 5 Countries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Boxplot for score distribution by country.</a:t>
            </a:r>
          </a:p>
          <a:p>
            <a:pPr>
              <a:defRPr sz="1800"/>
            </a:pPr>
            <a:r>
              <a:t>ANOVA confirms mean score differences (p &lt; 0.001).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Q4: Predictors of World 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Correlation plot for numeric variables.</a:t>
            </a:r>
          </a:p>
          <a:p>
            <a:pPr>
              <a:defRPr sz="1800"/>
            </a:pPr>
            <a:r>
              <a:t>Strongest factors: publications, alumni employment, score.</a:t>
            </a:r>
          </a:p>
          <a:p>
            <a:pPr>
              <a:defRPr sz="1800"/>
            </a:pPr>
            <a:r>
              <a:t>Regression model: R² = 0.86.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Q5: Alumni Employment &amp;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Scatterplot: Alumni Employment vs. Score.</a:t>
            </a:r>
          </a:p>
          <a:p>
            <a:pPr>
              <a:defRPr sz="1800"/>
            </a:pPr>
            <a:r>
              <a:t>Better alumni outcomes linked to higher scores.</a:t>
            </a:r>
          </a:p>
          <a:p>
            <a:pPr>
              <a:defRPr sz="1800"/>
            </a:pPr>
            <a:r>
              <a:t>Regression shows negative trend (better rank).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Score distribution by rank brackets (Boxplot + ANOVA).</a:t>
            </a:r>
          </a:p>
          <a:p>
            <a:pPr>
              <a:defRPr sz="1800"/>
            </a:pPr>
            <a:r>
              <a:t>Heatmap: Top 100 universities by country.</a:t>
            </a:r>
          </a:p>
          <a:p>
            <a:pPr>
              <a:defRPr sz="1800"/>
            </a:pPr>
            <a:r>
              <a:t>Treemap: University count by country.</a:t>
            </a:r>
          </a:p>
          <a:p>
            <a:pPr>
              <a:defRPr sz="1800"/>
            </a:pPr>
            <a:r>
              <a:t>Faceted plots by continent.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Research productivity is a major ranking driver.</a:t>
            </a:r>
          </a:p>
          <a:p>
            <a:pPr>
              <a:defRPr sz="1800"/>
            </a:pPr>
            <a:r>
              <a:t>USA dominates in quantity, others in quality.</a:t>
            </a:r>
          </a:p>
          <a:p>
            <a:pPr>
              <a:defRPr sz="1800"/>
            </a:pPr>
            <a:r>
              <a:t>Strong negative correlations with publication-related metrics.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Dataset scope limited to CWUR methodology.</a:t>
            </a:r>
          </a:p>
          <a:p>
            <a:pPr>
              <a:defRPr sz="1800"/>
            </a:pPr>
            <a:r>
              <a:t>Future: use QS/THE data, integrate qualitative metrics.</a:t>
            </a:r>
          </a:p>
          <a:p>
            <a:pPr>
              <a:defRPr sz="1800"/>
            </a:pPr>
            <a:r>
              <a:t>Scope: predictive modeling, dashboard building.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 code: cleaning, ANOVA, regression included in Rmd.</a:t>
            </a:r>
          </a:p>
          <a:p>
            <a:pPr>
              <a:defRPr sz="1800"/>
            </a:pPr>
            <a:r>
              <a:t>Table: Top 10 universities by score.</a:t>
            </a:r>
          </a:p>
          <a:p>
            <a:pPr>
              <a:defRPr sz="1800"/>
            </a:pPr>
            <a:r>
              <a:t>Summary: Top 10 countries dashboard preview.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Q&amp;A and Discussion</a:t>
            </a:r>
          </a:p>
          <a:p>
            <a:pPr>
              <a:defRPr sz="1800"/>
            </a:pPr>
            <a:r>
              <a:t>Presented by Team Vizionary 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